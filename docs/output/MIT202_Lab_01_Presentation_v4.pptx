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7721b729614560" /><Relationship Type="http://schemas.openxmlformats.org/officeDocument/2006/relationships/extended-properties" Target="/docProps/app.xml" Id="R098259199da142cc" /><Relationship Type="http://schemas.openxmlformats.org/officeDocument/2006/relationships/officeDocument" Target="/ppt/presentation.xml" Id="Rda70541ac6674a71" /></Relationships>
</file>

<file path=ppt/presentation.xml><?xml version="1.0" encoding="utf-8"?>
<p:presentation xmlns:p="http://schemas.openxmlformats.org/presentationml/2006/main">
  <p:sldMasterIdLst>
    <p:sldMasterId xmlns:r="http://schemas.openxmlformats.org/officeDocument/2006/relationships" id="2147483648" r:id="R4f836d9e424e4938"/>
  </p:sldMasterIdLst>
  <p:notesMasterIdLst>
    <p:notesMasterId xmlns:r="http://schemas.openxmlformats.org/officeDocument/2006/relationships" r:id="R59e2970259db406e"/>
  </p:notesMasterIdLst>
  <p:sldIdLst>
    <p:sldId xmlns:r="http://schemas.openxmlformats.org/officeDocument/2006/relationships" id="256" r:id="Rb102d48c607c45c3"/>
    <p:sldId xmlns:r="http://schemas.openxmlformats.org/officeDocument/2006/relationships" id="257" r:id="Rbe4bad6edc944355"/>
    <p:sldId xmlns:r="http://schemas.openxmlformats.org/officeDocument/2006/relationships" id="258" r:id="Rea2e10f752c54173"/>
    <p:sldId xmlns:r="http://schemas.openxmlformats.org/officeDocument/2006/relationships" id="259" r:id="R0ede7c4472b7499a"/>
    <p:sldId xmlns:r="http://schemas.openxmlformats.org/officeDocument/2006/relationships" id="260" r:id="R99594983ea194c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c5219ec3734b47" /><Relationship Type="http://schemas.openxmlformats.org/officeDocument/2006/relationships/slideMaster" Target="/ppt/slideMasters/slideMaster1.xml" Id="R4f836d9e424e4938" /><Relationship Type="http://schemas.openxmlformats.org/officeDocument/2006/relationships/notesMaster" Target="/ppt/notesMasters/notesMaster1.xml" Id="R59e2970259db406e" /><Relationship Type="http://schemas.openxmlformats.org/officeDocument/2006/relationships/presProps" Target="/ppt/presProps.xml" Id="R1a8a4df5c99446f0" /><Relationship Type="http://schemas.openxmlformats.org/officeDocument/2006/relationships/tableStyles" Target="/ppt/tableStyles.xml" Id="Re129df3913214789" /><Relationship Type="http://schemas.openxmlformats.org/officeDocument/2006/relationships/slide" Target="/ppt/slides/slide1.xml" Id="Rb102d48c607c45c3" /><Relationship Type="http://schemas.openxmlformats.org/officeDocument/2006/relationships/slide" Target="/ppt/slides/slide2.xml" Id="Rbe4bad6edc944355" /><Relationship Type="http://schemas.openxmlformats.org/officeDocument/2006/relationships/slide" Target="/ppt/slides/slide3.xml" Id="Rea2e10f752c54173" /><Relationship Type="http://schemas.openxmlformats.org/officeDocument/2006/relationships/slide" Target="/ppt/slides/slide4.xml" Id="R0ede7c4472b7499a" /><Relationship Type="http://schemas.openxmlformats.org/officeDocument/2006/relationships/slide" Target="/ppt/slides/slide5.xml" Id="R99594983ea194c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2bce9d95624d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72c7e41a334b1f" /><Relationship Type="http://schemas.openxmlformats.org/officeDocument/2006/relationships/notesMaster" Target="/ppt/notesMasters/notesMaster1.xml" Id="R79a9cee992674e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c3bebdc89246c9" /><Relationship Type="http://schemas.openxmlformats.org/officeDocument/2006/relationships/notesMaster" Target="/ppt/notesMasters/notesMaster1.xml" Id="R3eeb5979625447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445e1ab19f4951" /><Relationship Type="http://schemas.openxmlformats.org/officeDocument/2006/relationships/notesMaster" Target="/ppt/notesMasters/notesMaster1.xml" Id="Rcc74721438f545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84c60a4b7145f4" /><Relationship Type="http://schemas.openxmlformats.org/officeDocument/2006/relationships/notesMaster" Target="/ppt/notesMasters/notesMaster1.xml" Id="Rd6593a21454e46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baeb075b2e4fa8" /><Relationship Type="http://schemas.openxmlformats.org/officeDocument/2006/relationships/notesMaster" Target="/ppt/notesMasters/notesMaster1.xml" Id="Raf0b52205c2d41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Introduce the goal: build one Student Records REST API, prove it against local MySQL, then move only the database connection to Supabase PostgreSQL. Point to the diagram and stress that Postman uses the same HTTP and JSON contract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0:45–1:35. Explain the two required operations. GET lists records. POST validates the student number, name, email, and course, then returns status 201. Describe the students table and its unique fields. Mention that routes, controller methods, validation, and the Eloquent model contain no Supabase-specific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1:35–2:35. Show the local database first. The Laravel migration created the students table and the seeder inserted two records. Then explain the Postman evidence: the GET request returned the existing rows with status 200, and the POST request created a new student with status 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2:35–3:45. Explain that Supabase supplied PostgreSQL connection parameters. PHP needed the PostgreSQL driver, and Laravel needed only new database values in the environment file. The same migrations and seeder then created the cloud table. Point to the Supabase table and emphasize that route, controller, and model code stayed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3:45–5:00. Show the final GET and POST evidence after migration. Both requests use the same URLs and JSON structure as before, and they still return 200 and 201. Conclude that Laravel's environment configuration and Eloquent abstraction allowed the database change without rewriting API logic. The main challenge was establishing the PostgreSQL connection; the Supabase session pooler resolved it.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151a8cfe2a4e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11a01fbfc04ef5" /><Relationship Type="http://schemas.openxmlformats.org/officeDocument/2006/relationships/slideLayout" Target="/ppt/slideLayouts/slideLayout1.xml" Id="R9ab2ec3dae4f45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b2ec3dae4f45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8721fb57ac4b82" /><Relationship Type="http://schemas.openxmlformats.org/officeDocument/2006/relationships/image" Target="/ppt/media/image.png" Id="R27bfe4550cc847ce" /><Relationship Type="http://schemas.openxmlformats.org/officeDocument/2006/relationships/notesSlide" Target="/ppt/notesSlides/notesSlide1.xml" Id="R91c4f78da69145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2d91e14ff14f51" /><Relationship Type="http://schemas.openxmlformats.org/officeDocument/2006/relationships/notesSlide" Target="/ppt/notesSlides/notesSlide2.xml" Id="Rdf60b7ad184b42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36c7ee3c7b4b0d" /><Relationship Type="http://schemas.openxmlformats.org/officeDocument/2006/relationships/image" Target="/ppt/media/image2.png" Id="Rc454a1e24b014930" /><Relationship Type="http://schemas.openxmlformats.org/officeDocument/2006/relationships/image" Target="/ppt/media/image3.png" Id="Rd24ff7adae9043f1" /><Relationship Type="http://schemas.openxmlformats.org/officeDocument/2006/relationships/image" Target="/ppt/media/image4.png" Id="R13e6365cc26f4d09" /><Relationship Type="http://schemas.openxmlformats.org/officeDocument/2006/relationships/notesSlide" Target="/ppt/notesSlides/notesSlide3.xml" Id="R4e00d1976dac45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60c4944334e9f" /><Relationship Type="http://schemas.openxmlformats.org/officeDocument/2006/relationships/image" Target="/ppt/media/image5.png" Id="R0c99b91a33f142f5" /><Relationship Type="http://schemas.openxmlformats.org/officeDocument/2006/relationships/image" Target="/ppt/media/image6.png" Id="R95fad284b2fd4f54" /><Relationship Type="http://schemas.openxmlformats.org/officeDocument/2006/relationships/notesSlide" Target="/ppt/notesSlides/notesSlide4.xml" Id="R57b9b4a1b2b245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15c35231c349cd" /><Relationship Type="http://schemas.openxmlformats.org/officeDocument/2006/relationships/image" Target="/ppt/media/image7.png" Id="R5e3d8b07c5004552" /><Relationship Type="http://schemas.openxmlformats.org/officeDocument/2006/relationships/image" Target="/ppt/media/image8.png" Id="R8c729e1d99e5413f" /><Relationship Type="http://schemas.openxmlformats.org/officeDocument/2006/relationships/notesSlide" Target="/ppt/notesSlides/notesSlide5.xml" Id="Re4f83281a8ea4118"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08B206-E2A1-4278-8FF6-5C94D499B425}"/>
              </a:ext>
            </a:extLst>
          </p:cNvPr>
          <p:cNvSpPr>
            <a:spLocks xmlns:a="http://schemas.openxmlformats.org/drawingml/2006/main" noGrp="1"/>
          </p:cNvSpPr>
          <p:nvPr/>
        </p:nvSpPr>
        <p:spPr>
          <a:xfrm xmlns:a="http://schemas.openxmlformats.org/drawingml/2006/main">
            <a:off x="666750" y="40005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463EB"/>
                </a:solidFill>
                <a:latin typeface="Arial"/>
                <a:ea typeface="Arial"/>
                <a:cs typeface="Arial"/>
              </a:defRPr>
            </a:pPr>
            <a:r>
              <a:rPr sz="1275" b="1">
                <a:solidFill>
                  <a:srgbClr val="2463EB"/>
                </a:solidFill>
                <a:latin typeface="Arial"/>
                <a:ea typeface="Arial"/>
                <a:cs typeface="Arial"/>
              </a:rPr>
              <a:t>MIT 202  |  Laboratory Activity No. 01</a:t>
            </a:r>
          </a:p>
        </p:txBody>
      </p:sp>
      <p:sp>
        <p:nvSpPr>
          <p:cNvPr id="2" name="">
            <a:extLst xmlns:a="http://schemas.openxmlformats.org/drawingml/2006/main">
              <a:ext uri="{FF2B5EF4-FFF2-40B4-BE49-F238E27FC236}">
                <a16:creationId xmlns:a16="http://schemas.microsoft.com/office/drawing/2014/main" id="{A7CB0C12-8EE2-43D6-9AAC-8A6D6F913387}"/>
              </a:ext>
            </a:extLst>
          </p:cNvPr>
          <p:cNvSpPr>
            <a:spLocks xmlns:a="http://schemas.openxmlformats.org/drawingml/2006/main" noGrp="1"/>
          </p:cNvSpPr>
          <p:nvPr/>
        </p:nvSpPr>
        <p:spPr>
          <a:xfrm xmlns:a="http://schemas.openxmlformats.org/drawingml/2006/main">
            <a:off x="666750" y="857250"/>
            <a:ext cx="657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17233C"/>
                </a:solidFill>
                <a:latin typeface="Arial"/>
                <a:ea typeface="Arial"/>
                <a:cs typeface="Arial"/>
              </a:defRPr>
            </a:pPr>
            <a:r>
              <a:rPr sz="3450" b="1">
                <a:solidFill>
                  <a:srgbClr val="17233C"/>
                </a:solidFill>
                <a:latin typeface="Arial"/>
                <a:ea typeface="Arial"/>
                <a:cs typeface="Arial"/>
              </a:rPr>
              <a:t>Student Records API</a:t>
            </a:r>
          </a:p>
        </p:txBody>
      </p:sp>
      <p:sp>
        <p:nvSpPr>
          <p:cNvPr id="3" name="">
            <a:extLst xmlns:a="http://schemas.openxmlformats.org/drawingml/2006/main">
              <a:ext uri="{FF2B5EF4-FFF2-40B4-BE49-F238E27FC236}">
                <a16:creationId xmlns:a16="http://schemas.microsoft.com/office/drawing/2014/main" id="{52BAAF61-E022-43C7-9B54-F72A87056F3C}"/>
              </a:ext>
            </a:extLst>
          </p:cNvPr>
          <p:cNvSpPr>
            <a:spLocks xmlns:a="http://schemas.openxmlformats.org/drawingml/2006/main" noGrp="1"/>
          </p:cNvSpPr>
          <p:nvPr/>
        </p:nvSpPr>
        <p:spPr>
          <a:xfrm xmlns:a="http://schemas.openxmlformats.org/drawingml/2006/main">
            <a:off x="685800" y="146685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556176"/>
                </a:solidFill>
                <a:latin typeface="Arial"/>
                <a:ea typeface="Arial"/>
                <a:cs typeface="Arial"/>
              </a:defRPr>
            </a:pPr>
            <a:r>
              <a:rPr sz="1725" b="0">
                <a:solidFill>
                  <a:srgbClr val="556176"/>
                </a:solidFill>
                <a:latin typeface="Arial"/>
                <a:ea typeface="Arial"/>
                <a:cs typeface="Arial"/>
              </a:rPr>
              <a:t>Laravel with MySQL and Supabase PostgreSQL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7bfe4550cc847ce"/>
          <a:stretch xmlns:a="http://schemas.openxmlformats.org/drawingml/2006/main"/>
        </p:blipFill>
        <p:spPr>
          <a:xfrm xmlns:a="http://schemas.openxmlformats.org/drawingml/2006/main">
            <a:off x="2667000" y="2095500"/>
            <a:ext cx="6858000" cy="3857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12910A-B654-4AA2-8DE1-59ED2866ADC7}"/>
              </a:ext>
            </a:extLst>
          </p:cNvPr>
          <p:cNvSpPr>
            <a:spLocks xmlns:a="http://schemas.openxmlformats.org/drawingml/2006/main" noGrp="1"/>
          </p:cNvSpPr>
          <p:nvPr/>
        </p:nvSpPr>
        <p:spPr>
          <a:xfrm xmlns:a="http://schemas.openxmlformats.org/drawingml/2006/main">
            <a:off x="685800" y="61912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556176"/>
                </a:solidFill>
                <a:latin typeface="Arial"/>
                <a:ea typeface="Arial"/>
                <a:cs typeface="Arial"/>
              </a:defRPr>
            </a:pPr>
            <a:r>
              <a:rPr sz="1275" b="0">
                <a:solidFill>
                  <a:srgbClr val="556176"/>
                </a:solidFill>
                <a:latin typeface="Arial"/>
                <a:ea typeface="Arial"/>
                <a:cs typeface="Arial"/>
              </a:rPr>
              <a:t>[Student Name]  |  [Section]</a:t>
            </a:r>
          </a:p>
        </p:txBody>
      </p:sp>
    </p:spTree>
    <p:extLst>
      <p:ext uri="{BB962C8B-B14F-4D97-AF65-F5344CB8AC3E}">
        <p14:creationId xmlns:p14="http://schemas.microsoft.com/office/powerpoint/2010/main" val="10129096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A59B63E-33D5-4E84-A616-24CD41627DE3}"/>
              </a:ext>
            </a:extLst>
          </p:cNvPr>
          <p:cNvSpPr>
            <a:spLocks xmlns:a="http://schemas.openxmlformats.org/drawingml/2006/main" noGrp="1"/>
          </p:cNvSpPr>
          <p:nvPr/>
        </p:nvSpPr>
        <p:spPr>
          <a:xfrm xmlns:a="http://schemas.openxmlformats.org/drawingml/2006/main">
            <a:off x="628650" y="36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33C"/>
                </a:solidFill>
                <a:latin typeface="Arial"/>
                <a:ea typeface="Arial"/>
                <a:cs typeface="Arial"/>
              </a:defRPr>
            </a:pPr>
            <a:r>
              <a:rPr sz="2550" b="1">
                <a:solidFill>
                  <a:srgbClr val="17233C"/>
                </a:solidFill>
                <a:latin typeface="Arial"/>
                <a:ea typeface="Arial"/>
                <a:cs typeface="Arial"/>
              </a:rPr>
              <a:t>API and database design</a:t>
            </a:r>
          </a:p>
        </p:txBody>
      </p:sp>
      <p:sp>
        <p:nvSpPr>
          <p:cNvPr id="2" name="">
            <a:extLst xmlns:a="http://schemas.openxmlformats.org/drawingml/2006/main">
              <a:ext uri="{FF2B5EF4-FFF2-40B4-BE49-F238E27FC236}">
                <a16:creationId xmlns:a16="http://schemas.microsoft.com/office/drawing/2014/main" id="{E88EB86E-8FD1-492B-BE9B-DF8C0E667D95}"/>
              </a:ext>
            </a:extLst>
          </p:cNvPr>
          <p:cNvSpPr>
            <a:spLocks xmlns:a="http://schemas.openxmlformats.org/drawingml/2006/main" noGrp="1"/>
          </p:cNvSpPr>
          <p:nvPr/>
        </p:nvSpPr>
        <p:spPr>
          <a:xfrm xmlns:a="http://schemas.openxmlformats.org/drawingml/2006/main">
            <a:off x="11049000" y="4381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2463EB"/>
                </a:solidFill>
                <a:latin typeface="Arial"/>
                <a:ea typeface="Arial"/>
                <a:cs typeface="Arial"/>
              </a:defRPr>
            </a:pPr>
            <a:r>
              <a:rPr sz="1350" b="1">
                <a:solidFill>
                  <a:srgbClr val="2463E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C9D9473-640B-44AB-AECD-F1E08DD22ECA}"/>
              </a:ext>
            </a:extLst>
          </p:cNvPr>
          <p:cNvSpPr>
            <a:spLocks xmlns:a="http://schemas.openxmlformats.org/drawingml/2006/main" noGrp="1"/>
          </p:cNvSpPr>
          <p:nvPr/>
        </p:nvSpPr>
        <p:spPr>
          <a:xfrm xmlns:a="http://schemas.openxmlformats.org/drawingml/2006/main">
            <a:off x="685800" y="1181100"/>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0891B2"/>
                </a:solidFill>
                <a:latin typeface="Arial"/>
                <a:ea typeface="Arial"/>
                <a:cs typeface="Arial"/>
              </a:defRPr>
            </a:pPr>
            <a:r>
              <a:rPr sz="1800" b="1">
                <a:solidFill>
                  <a:srgbClr val="0891B2"/>
                </a:solidFill>
                <a:latin typeface="Arial"/>
                <a:ea typeface="Arial"/>
                <a:cs typeface="Arial"/>
              </a:rPr>
              <a:t>GET</a:t>
            </a:r>
          </a:p>
        </p:txBody>
      </p:sp>
      <p:sp>
        <p:nvSpPr>
          <p:cNvPr id="4" name="">
            <a:extLst xmlns:a="http://schemas.openxmlformats.org/drawingml/2006/main">
              <a:ext uri="{FF2B5EF4-FFF2-40B4-BE49-F238E27FC236}">
                <a16:creationId xmlns:a16="http://schemas.microsoft.com/office/drawing/2014/main" id="{B41DD061-77F8-4636-BD09-D3B8BE89ACC4}"/>
              </a:ext>
            </a:extLst>
          </p:cNvPr>
          <p:cNvSpPr>
            <a:spLocks xmlns:a="http://schemas.openxmlformats.org/drawingml/2006/main" noGrp="1"/>
          </p:cNvSpPr>
          <p:nvPr/>
        </p:nvSpPr>
        <p:spPr>
          <a:xfrm xmlns:a="http://schemas.openxmlformats.org/drawingml/2006/main">
            <a:off x="1619250" y="116205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7233C"/>
                </a:solidFill>
                <a:latin typeface="Arial"/>
                <a:ea typeface="Arial"/>
                <a:cs typeface="Arial"/>
              </a:defRPr>
            </a:pPr>
            <a:r>
              <a:rPr sz="2250" b="1">
                <a:solidFill>
                  <a:srgbClr val="17233C"/>
                </a:solidFill>
                <a:latin typeface="Arial"/>
                <a:ea typeface="Arial"/>
                <a:cs typeface="Arial"/>
              </a:rPr>
              <a:t>/api/students</a:t>
            </a:r>
          </a:p>
        </p:txBody>
      </p:sp>
      <p:sp>
        <p:nvSpPr>
          <p:cNvPr id="5" name="">
            <a:extLst xmlns:a="http://schemas.openxmlformats.org/drawingml/2006/main">
              <a:ext uri="{FF2B5EF4-FFF2-40B4-BE49-F238E27FC236}">
                <a16:creationId xmlns:a16="http://schemas.microsoft.com/office/drawing/2014/main" id="{BE7FEAD1-FB53-42E1-B4BA-301F3C886903}"/>
              </a:ext>
            </a:extLst>
          </p:cNvPr>
          <p:cNvSpPr>
            <a:spLocks xmlns:a="http://schemas.openxmlformats.org/drawingml/2006/main" noGrp="1"/>
          </p:cNvSpPr>
          <p:nvPr/>
        </p:nvSpPr>
        <p:spPr>
          <a:xfrm xmlns:a="http://schemas.openxmlformats.org/drawingml/2006/main">
            <a:off x="1619250" y="16002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56176"/>
                </a:solidFill>
                <a:latin typeface="Arial"/>
                <a:ea typeface="Arial"/>
                <a:cs typeface="Arial"/>
              </a:defRPr>
            </a:pPr>
            <a:r>
              <a:rPr sz="1425" b="0">
                <a:solidFill>
                  <a:srgbClr val="556176"/>
                </a:solidFill>
                <a:latin typeface="Arial"/>
                <a:ea typeface="Arial"/>
                <a:cs typeface="Arial"/>
              </a:rPr>
              <a:t>Returns all student records with HTTP 200</a:t>
            </a:r>
          </a:p>
        </p:txBody>
      </p:sp>
      <p:sp>
        <p:nvSpPr>
          <p:cNvPr id="6" name="">
            <a:extLst xmlns:a="http://schemas.openxmlformats.org/drawingml/2006/main">
              <a:ext uri="{FF2B5EF4-FFF2-40B4-BE49-F238E27FC236}">
                <a16:creationId xmlns:a16="http://schemas.microsoft.com/office/drawing/2014/main" id="{3EF0CF76-AA84-4CFB-9B00-7D1F60E39955}"/>
              </a:ext>
            </a:extLst>
          </p:cNvPr>
          <p:cNvSpPr>
            <a:spLocks xmlns:a="http://schemas.openxmlformats.org/drawingml/2006/main" noGrp="1"/>
          </p:cNvSpPr>
          <p:nvPr/>
        </p:nvSpPr>
        <p:spPr>
          <a:xfrm xmlns:a="http://schemas.openxmlformats.org/drawingml/2006/main">
            <a:off x="685800" y="2190750"/>
            <a:ext cx="95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EA580C"/>
                </a:solidFill>
                <a:latin typeface="Arial"/>
                <a:ea typeface="Arial"/>
                <a:cs typeface="Arial"/>
              </a:defRPr>
            </a:pPr>
            <a:r>
              <a:rPr sz="1800" b="1">
                <a:solidFill>
                  <a:srgbClr val="EA580C"/>
                </a:solidFill>
                <a:latin typeface="Arial"/>
                <a:ea typeface="Arial"/>
                <a:cs typeface="Arial"/>
              </a:rPr>
              <a:t>POST</a:t>
            </a:r>
          </a:p>
        </p:txBody>
      </p:sp>
      <p:sp>
        <p:nvSpPr>
          <p:cNvPr id="7" name="">
            <a:extLst xmlns:a="http://schemas.openxmlformats.org/drawingml/2006/main">
              <a:ext uri="{FF2B5EF4-FFF2-40B4-BE49-F238E27FC236}">
                <a16:creationId xmlns:a16="http://schemas.microsoft.com/office/drawing/2014/main" id="{BDE681BE-5C91-47A3-AC29-C48983DB96FA}"/>
              </a:ext>
            </a:extLst>
          </p:cNvPr>
          <p:cNvSpPr>
            <a:spLocks xmlns:a="http://schemas.openxmlformats.org/drawingml/2006/main" noGrp="1"/>
          </p:cNvSpPr>
          <p:nvPr/>
        </p:nvSpPr>
        <p:spPr>
          <a:xfrm xmlns:a="http://schemas.openxmlformats.org/drawingml/2006/main">
            <a:off x="1619250" y="217170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7233C"/>
                </a:solidFill>
                <a:latin typeface="Arial"/>
                <a:ea typeface="Arial"/>
                <a:cs typeface="Arial"/>
              </a:defRPr>
            </a:pPr>
            <a:r>
              <a:rPr sz="2250" b="1">
                <a:solidFill>
                  <a:srgbClr val="17233C"/>
                </a:solidFill>
                <a:latin typeface="Arial"/>
                <a:ea typeface="Arial"/>
                <a:cs typeface="Arial"/>
              </a:rPr>
              <a:t>/api/students</a:t>
            </a:r>
          </a:p>
        </p:txBody>
      </p:sp>
      <p:sp>
        <p:nvSpPr>
          <p:cNvPr id="8" name="">
            <a:extLst xmlns:a="http://schemas.openxmlformats.org/drawingml/2006/main">
              <a:ext uri="{FF2B5EF4-FFF2-40B4-BE49-F238E27FC236}">
                <a16:creationId xmlns:a16="http://schemas.microsoft.com/office/drawing/2014/main" id="{1CDD13BB-8808-4D43-8498-929B29607282}"/>
              </a:ext>
            </a:extLst>
          </p:cNvPr>
          <p:cNvSpPr>
            <a:spLocks xmlns:a="http://schemas.openxmlformats.org/drawingml/2006/main" noGrp="1"/>
          </p:cNvSpPr>
          <p:nvPr/>
        </p:nvSpPr>
        <p:spPr>
          <a:xfrm xmlns:a="http://schemas.openxmlformats.org/drawingml/2006/main">
            <a:off x="1619250" y="26098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56176"/>
                </a:solidFill>
                <a:latin typeface="Arial"/>
                <a:ea typeface="Arial"/>
                <a:cs typeface="Arial"/>
              </a:defRPr>
            </a:pPr>
            <a:r>
              <a:rPr sz="1425" b="0">
                <a:solidFill>
                  <a:srgbClr val="556176"/>
                </a:solidFill>
                <a:latin typeface="Arial"/>
                <a:ea typeface="Arial"/>
                <a:cs typeface="Arial"/>
              </a:rPr>
              <a:t>Validates input and returns the new record with HTTP 201</a:t>
            </a:r>
          </a:p>
        </p:txBody>
      </p:sp>
      <p:sp>
        <p:nvSpPr>
          <p:cNvPr id="9" name="">
            <a:extLst xmlns:a="http://schemas.openxmlformats.org/drawingml/2006/main">
              <a:ext uri="{FF2B5EF4-FFF2-40B4-BE49-F238E27FC236}">
                <a16:creationId xmlns:a16="http://schemas.microsoft.com/office/drawing/2014/main" id="{33B133CE-F649-40D2-A132-16297E46F622}"/>
              </a:ext>
            </a:extLst>
          </p:cNvPr>
          <p:cNvSpPr>
            <a:spLocks xmlns:a="http://schemas.openxmlformats.org/drawingml/2006/main" noGrp="1"/>
          </p:cNvSpPr>
          <p:nvPr/>
        </p:nvSpPr>
        <p:spPr>
          <a:xfrm xmlns:a="http://schemas.openxmlformats.org/drawingml/2006/main">
            <a:off x="6953250" y="1143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2463EB"/>
                </a:solidFill>
                <a:latin typeface="Arial"/>
                <a:ea typeface="Arial"/>
                <a:cs typeface="Arial"/>
              </a:defRPr>
            </a:pPr>
            <a:r>
              <a:rPr sz="1875" b="1">
                <a:solidFill>
                  <a:srgbClr val="2463EB"/>
                </a:solidFill>
                <a:latin typeface="Arial"/>
                <a:ea typeface="Arial"/>
                <a:cs typeface="Arial"/>
              </a:rPr>
              <a:t>students table</a:t>
            </a:r>
          </a:p>
        </p:txBody>
      </p:sp>
      <p:sp>
        <p:nvSpPr>
          <p:cNvPr id="10" name="">
            <a:extLst xmlns:a="http://schemas.openxmlformats.org/drawingml/2006/main">
              <a:ext uri="{FF2B5EF4-FFF2-40B4-BE49-F238E27FC236}">
                <a16:creationId xmlns:a16="http://schemas.microsoft.com/office/drawing/2014/main" id="{DC073AA3-79A3-468F-9DA8-FD6EF6AB573C}"/>
              </a:ext>
            </a:extLst>
          </p:cNvPr>
          <p:cNvSpPr>
            <a:spLocks xmlns:a="http://schemas.openxmlformats.org/drawingml/2006/main" noGrp="1"/>
          </p:cNvSpPr>
          <p:nvPr/>
        </p:nvSpPr>
        <p:spPr>
          <a:xfrm xmlns:a="http://schemas.openxmlformats.org/drawingml/2006/main">
            <a:off x="6953250" y="1619250"/>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id                 primary key</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student_number     required, unique</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first_name         required</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last_name          required</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email              required, unique</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course             required</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created_at         timestamp</a:t>
            </a:r>
          </a:p>
          <a:p xmlns:a="http://schemas.openxmlformats.org/drawingml/2006/main">
            <a:pPr algn="l">
              <a:defRPr sz="1425" b="0">
                <a:solidFill>
                  <a:srgbClr val="17233C"/>
                </a:solidFill>
                <a:latin typeface="Arial"/>
                <a:ea typeface="Arial"/>
                <a:cs typeface="Arial"/>
              </a:defRPr>
            </a:pPr>
            <a:r>
              <a:rPr sz="1425" b="0">
                <a:solidFill>
                  <a:srgbClr val="17233C"/>
                </a:solidFill>
                <a:latin typeface="Arial"/>
                <a:ea typeface="Arial"/>
                <a:cs typeface="Arial"/>
              </a:rPr>
              <a:t>updated_at         timestamp</a:t>
            </a:r>
          </a:p>
        </p:txBody>
      </p:sp>
      <p:sp>
        <p:nvSpPr>
          <p:cNvPr id="11" name="">
            <a:extLst xmlns:a="http://schemas.openxmlformats.org/drawingml/2006/main">
              <a:ext uri="{FF2B5EF4-FFF2-40B4-BE49-F238E27FC236}">
                <a16:creationId xmlns:a16="http://schemas.microsoft.com/office/drawing/2014/main" id="{AB9E4454-83D1-4324-9C1A-71A112F12F8A}"/>
              </a:ext>
            </a:extLst>
          </p:cNvPr>
          <p:cNvSpPr>
            <a:spLocks xmlns:a="http://schemas.openxmlformats.org/drawingml/2006/main" noGrp="1"/>
          </p:cNvSpPr>
          <p:nvPr/>
        </p:nvSpPr>
        <p:spPr>
          <a:xfrm xmlns:a="http://schemas.openxmlformats.org/drawingml/2006/main">
            <a:off x="685800" y="52197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233C"/>
                </a:solidFill>
                <a:latin typeface="Arial"/>
                <a:ea typeface="Arial"/>
                <a:cs typeface="Arial"/>
              </a:defRPr>
            </a:pPr>
            <a:r>
              <a:rPr sz="1725" b="1">
                <a:solidFill>
                  <a:srgbClr val="17233C"/>
                </a:solidFill>
                <a:latin typeface="Arial"/>
                <a:ea typeface="Arial"/>
                <a:cs typeface="Arial"/>
              </a:rPr>
              <a:t>Laravel routes requests to StudentController. Eloquent keeps storage details outside the API contract.</a:t>
            </a:r>
          </a:p>
        </p:txBody>
      </p:sp>
    </p:spTree>
    <p:extLst>
      <p:ext uri="{BB962C8B-B14F-4D97-AF65-F5344CB8AC3E}">
        <p14:creationId xmlns:p14="http://schemas.microsoft.com/office/powerpoint/2010/main" val="6996238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9DF7E7-5940-41AD-9CE6-384364298C1D}"/>
              </a:ext>
            </a:extLst>
          </p:cNvPr>
          <p:cNvSpPr>
            <a:spLocks xmlns:a="http://schemas.openxmlformats.org/drawingml/2006/main" noGrp="1"/>
          </p:cNvSpPr>
          <p:nvPr/>
        </p:nvSpPr>
        <p:spPr>
          <a:xfrm xmlns:a="http://schemas.openxmlformats.org/drawingml/2006/main">
            <a:off x="628650" y="36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33C"/>
                </a:solidFill>
                <a:latin typeface="Arial"/>
                <a:ea typeface="Arial"/>
                <a:cs typeface="Arial"/>
              </a:defRPr>
            </a:pPr>
            <a:r>
              <a:rPr sz="2550" b="1">
                <a:solidFill>
                  <a:srgbClr val="17233C"/>
                </a:solidFill>
                <a:latin typeface="Arial"/>
                <a:ea typeface="Arial"/>
                <a:cs typeface="Arial"/>
              </a:rPr>
              <a:t>Local MySQL implementation</a:t>
            </a:r>
          </a:p>
        </p:txBody>
      </p:sp>
      <p:sp>
        <p:nvSpPr>
          <p:cNvPr id="2" name="">
            <a:extLst xmlns:a="http://schemas.openxmlformats.org/drawingml/2006/main">
              <a:ext uri="{FF2B5EF4-FFF2-40B4-BE49-F238E27FC236}">
                <a16:creationId xmlns:a16="http://schemas.microsoft.com/office/drawing/2014/main" id="{8ED742D0-941F-4BE7-B251-02DFEC344D37}"/>
              </a:ext>
            </a:extLst>
          </p:cNvPr>
          <p:cNvSpPr>
            <a:spLocks xmlns:a="http://schemas.openxmlformats.org/drawingml/2006/main" noGrp="1"/>
          </p:cNvSpPr>
          <p:nvPr/>
        </p:nvSpPr>
        <p:spPr>
          <a:xfrm xmlns:a="http://schemas.openxmlformats.org/drawingml/2006/main">
            <a:off x="11049000" y="4381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2463EB"/>
                </a:solidFill>
                <a:latin typeface="Arial"/>
                <a:ea typeface="Arial"/>
                <a:cs typeface="Arial"/>
              </a:defRPr>
            </a:pPr>
            <a:r>
              <a:rPr sz="1350" b="1">
                <a:solidFill>
                  <a:srgbClr val="2463EB"/>
                </a:solidFill>
                <a:latin typeface="Arial"/>
                <a:ea typeface="Arial"/>
                <a:cs typeface="Arial"/>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454a1e24b014930"/>
          <a:stretch xmlns:a="http://schemas.openxmlformats.org/drawingml/2006/main"/>
        </p:blipFill>
        <p:spPr>
          <a:xfrm xmlns:a="http://schemas.openxmlformats.org/drawingml/2006/main">
            <a:off x="552450" y="1142107"/>
            <a:ext cx="5286375" cy="2973586"/>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24ff7adae9043f1"/>
          <a:stretch xmlns:a="http://schemas.openxmlformats.org/drawingml/2006/main"/>
        </p:blipFill>
        <p:spPr>
          <a:xfrm xmlns:a="http://schemas.openxmlformats.org/drawingml/2006/main">
            <a:off x="6760104" y="1104900"/>
            <a:ext cx="4148667" cy="233362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e6365cc26f4d09"/>
          <a:stretch xmlns:a="http://schemas.openxmlformats.org/drawingml/2006/main"/>
        </p:blipFill>
        <p:spPr>
          <a:xfrm xmlns:a="http://schemas.openxmlformats.org/drawingml/2006/main">
            <a:off x="6760104" y="3667125"/>
            <a:ext cx="4148667" cy="2333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F0C277-F77A-4A94-B983-962802CEF3A0}"/>
              </a:ext>
            </a:extLst>
          </p:cNvPr>
          <p:cNvSpPr>
            <a:spLocks xmlns:a="http://schemas.openxmlformats.org/drawingml/2006/main" noGrp="1"/>
          </p:cNvSpPr>
          <p:nvPr/>
        </p:nvSpPr>
        <p:spPr>
          <a:xfrm xmlns:a="http://schemas.openxmlformats.org/drawingml/2006/main">
            <a:off x="590550" y="42291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463EB"/>
                </a:solidFill>
                <a:latin typeface="Arial"/>
                <a:ea typeface="Arial"/>
                <a:cs typeface="Arial"/>
              </a:defRPr>
            </a:pPr>
            <a:r>
              <a:rPr sz="1275" b="1">
                <a:solidFill>
                  <a:srgbClr val="2463EB"/>
                </a:solidFill>
                <a:latin typeface="Arial"/>
                <a:ea typeface="Arial"/>
                <a:cs typeface="Arial"/>
              </a:rPr>
              <a:t>Set 1</a:t>
            </a:r>
          </a:p>
        </p:txBody>
      </p:sp>
      <p:sp>
        <p:nvSpPr>
          <p:cNvPr id="7" name="">
            <a:extLst xmlns:a="http://schemas.openxmlformats.org/drawingml/2006/main">
              <a:ext uri="{FF2B5EF4-FFF2-40B4-BE49-F238E27FC236}">
                <a16:creationId xmlns:a16="http://schemas.microsoft.com/office/drawing/2014/main" id="{2C769A01-6F89-45E1-BE10-28A1C1D7C876}"/>
              </a:ext>
            </a:extLst>
          </p:cNvPr>
          <p:cNvSpPr>
            <a:spLocks xmlns:a="http://schemas.openxmlformats.org/drawingml/2006/main" noGrp="1"/>
          </p:cNvSpPr>
          <p:nvPr/>
        </p:nvSpPr>
        <p:spPr>
          <a:xfrm xmlns:a="http://schemas.openxmlformats.org/drawingml/2006/main">
            <a:off x="590550" y="453390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Migration and seeder created the table and two starting records.</a:t>
            </a:r>
          </a:p>
        </p:txBody>
      </p:sp>
      <p:sp>
        <p:nvSpPr>
          <p:cNvPr id="8" name="">
            <a:extLst xmlns:a="http://schemas.openxmlformats.org/drawingml/2006/main">
              <a:ext uri="{FF2B5EF4-FFF2-40B4-BE49-F238E27FC236}">
                <a16:creationId xmlns:a16="http://schemas.microsoft.com/office/drawing/2014/main" id="{B33FA7E8-163B-4E41-88B0-0DAB1804DAB8}"/>
              </a:ext>
            </a:extLst>
          </p:cNvPr>
          <p:cNvSpPr>
            <a:spLocks xmlns:a="http://schemas.openxmlformats.org/drawingml/2006/main" noGrp="1"/>
          </p:cNvSpPr>
          <p:nvPr/>
        </p:nvSpPr>
        <p:spPr>
          <a:xfrm xmlns:a="http://schemas.openxmlformats.org/drawingml/2006/main">
            <a:off x="590550" y="53149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2463EB"/>
                </a:solidFill>
                <a:latin typeface="Arial"/>
                <a:ea typeface="Arial"/>
                <a:cs typeface="Arial"/>
              </a:defRPr>
            </a:pPr>
            <a:r>
              <a:rPr sz="1275" b="1">
                <a:solidFill>
                  <a:srgbClr val="2463EB"/>
                </a:solidFill>
                <a:latin typeface="Arial"/>
                <a:ea typeface="Arial"/>
                <a:cs typeface="Arial"/>
              </a:rPr>
              <a:t>Sets 2–3</a:t>
            </a:r>
          </a:p>
        </p:txBody>
      </p:sp>
      <p:sp>
        <p:nvSpPr>
          <p:cNvPr id="9" name="">
            <a:extLst xmlns:a="http://schemas.openxmlformats.org/drawingml/2006/main">
              <a:ext uri="{FF2B5EF4-FFF2-40B4-BE49-F238E27FC236}">
                <a16:creationId xmlns:a16="http://schemas.microsoft.com/office/drawing/2014/main" id="{1318CCD4-C0B1-496D-A911-B978E9D96D9B}"/>
              </a:ext>
            </a:extLst>
          </p:cNvPr>
          <p:cNvSpPr>
            <a:spLocks xmlns:a="http://schemas.openxmlformats.org/drawingml/2006/main" noGrp="1"/>
          </p:cNvSpPr>
          <p:nvPr/>
        </p:nvSpPr>
        <p:spPr>
          <a:xfrm xmlns:a="http://schemas.openxmlformats.org/drawingml/2006/main">
            <a:off x="590550" y="5619750"/>
            <a:ext cx="509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Postman confirmed HTTP 200 for GET and HTTP 201 for POST.</a:t>
            </a:r>
          </a:p>
        </p:txBody>
      </p:sp>
    </p:spTree>
    <p:extLst>
      <p:ext uri="{BB962C8B-B14F-4D97-AF65-F5344CB8AC3E}">
        <p14:creationId xmlns:p14="http://schemas.microsoft.com/office/powerpoint/2010/main" val="14121089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DFC8A6-1C68-4D55-916C-ABB6F60AE941}"/>
              </a:ext>
            </a:extLst>
          </p:cNvPr>
          <p:cNvSpPr>
            <a:spLocks xmlns:a="http://schemas.openxmlformats.org/drawingml/2006/main" noGrp="1"/>
          </p:cNvSpPr>
          <p:nvPr/>
        </p:nvSpPr>
        <p:spPr>
          <a:xfrm xmlns:a="http://schemas.openxmlformats.org/drawingml/2006/main">
            <a:off x="628650" y="36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33C"/>
                </a:solidFill>
                <a:latin typeface="Arial"/>
                <a:ea typeface="Arial"/>
                <a:cs typeface="Arial"/>
              </a:defRPr>
            </a:pPr>
            <a:r>
              <a:rPr sz="2550" b="1">
                <a:solidFill>
                  <a:srgbClr val="17233C"/>
                </a:solidFill>
                <a:latin typeface="Arial"/>
                <a:ea typeface="Arial"/>
                <a:cs typeface="Arial"/>
              </a:rPr>
              <a:t>Supabase migration through configuration</a:t>
            </a:r>
          </a:p>
        </p:txBody>
      </p:sp>
      <p:sp>
        <p:nvSpPr>
          <p:cNvPr id="2" name="">
            <a:extLst xmlns:a="http://schemas.openxmlformats.org/drawingml/2006/main">
              <a:ext uri="{FF2B5EF4-FFF2-40B4-BE49-F238E27FC236}">
                <a16:creationId xmlns:a16="http://schemas.microsoft.com/office/drawing/2014/main" id="{55639C08-AAFE-4726-BF10-2EC5C51380F3}"/>
              </a:ext>
            </a:extLst>
          </p:cNvPr>
          <p:cNvSpPr>
            <a:spLocks xmlns:a="http://schemas.openxmlformats.org/drawingml/2006/main" noGrp="1"/>
          </p:cNvSpPr>
          <p:nvPr/>
        </p:nvSpPr>
        <p:spPr>
          <a:xfrm xmlns:a="http://schemas.openxmlformats.org/drawingml/2006/main">
            <a:off x="11049000" y="4381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2463EB"/>
                </a:solidFill>
                <a:latin typeface="Arial"/>
                <a:ea typeface="Arial"/>
                <a:cs typeface="Arial"/>
              </a:defRPr>
            </a:pPr>
            <a:r>
              <a:rPr sz="1350" b="1">
                <a:solidFill>
                  <a:srgbClr val="2463EB"/>
                </a:solidFill>
                <a:latin typeface="Arial"/>
                <a:ea typeface="Arial"/>
                <a:cs typeface="Arial"/>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c99b91a33f142f5"/>
          <a:stretch xmlns:a="http://schemas.openxmlformats.org/drawingml/2006/main"/>
        </p:blipFill>
        <p:spPr>
          <a:xfrm xmlns:a="http://schemas.openxmlformats.org/drawingml/2006/main">
            <a:off x="647700" y="1202829"/>
            <a:ext cx="5476875" cy="3080742"/>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5fad284b2fd4f54"/>
          <a:stretch xmlns:a="http://schemas.openxmlformats.org/drawingml/2006/main"/>
        </p:blipFill>
        <p:spPr>
          <a:xfrm xmlns:a="http://schemas.openxmlformats.org/drawingml/2006/main">
            <a:off x="6381750" y="1296591"/>
            <a:ext cx="5143500" cy="289321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F9566A-C2DE-4313-BF90-EDF8E3FFF9AF}"/>
              </a:ext>
            </a:extLst>
          </p:cNvPr>
          <p:cNvSpPr>
            <a:spLocks xmlns:a="http://schemas.openxmlformats.org/drawingml/2006/main" noGrp="1"/>
          </p:cNvSpPr>
          <p:nvPr/>
        </p:nvSpPr>
        <p:spPr>
          <a:xfrm xmlns:a="http://schemas.openxmlformats.org/drawingml/2006/main">
            <a:off x="685800" y="4695825"/>
            <a:ext cx="95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EA580C"/>
                </a:solidFill>
                <a:latin typeface="Arial"/>
                <a:ea typeface="Arial"/>
                <a:cs typeface="Arial"/>
              </a:defRPr>
            </a:pPr>
            <a:r>
              <a:rPr sz="1500" b="1">
                <a:solidFill>
                  <a:srgbClr val="EA580C"/>
                </a:solidFill>
                <a:latin typeface="Arial"/>
                <a:ea typeface="Arial"/>
                <a:cs typeface="Arial"/>
              </a:rPr>
              <a:t>.env</a:t>
            </a:r>
          </a:p>
        </p:txBody>
      </p:sp>
      <p:sp>
        <p:nvSpPr>
          <p:cNvPr id="6" name="">
            <a:extLst xmlns:a="http://schemas.openxmlformats.org/drawingml/2006/main">
              <a:ext uri="{FF2B5EF4-FFF2-40B4-BE49-F238E27FC236}">
                <a16:creationId xmlns:a16="http://schemas.microsoft.com/office/drawing/2014/main" id="{E04042BA-B54E-4678-83D6-5340BC5CBBC0}"/>
              </a:ext>
            </a:extLst>
          </p:cNvPr>
          <p:cNvSpPr>
            <a:spLocks xmlns:a="http://schemas.openxmlformats.org/drawingml/2006/main" noGrp="1"/>
          </p:cNvSpPr>
          <p:nvPr/>
        </p:nvSpPr>
        <p:spPr>
          <a:xfrm xmlns:a="http://schemas.openxmlformats.org/drawingml/2006/main">
            <a:off x="685800" y="501015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DB_CONNECTION=pgsql</a:t>
            </a:r>
          </a:p>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DB_HOST=Supabase session pooler</a:t>
            </a:r>
          </a:p>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DB_PORT=5432</a:t>
            </a:r>
          </a:p>
          <a:p xmlns:a="http://schemas.openxmlformats.org/drawingml/2006/main">
            <a:pPr algn="l">
              <a:defRPr sz="1500" b="0">
                <a:solidFill>
                  <a:srgbClr val="17233C"/>
                </a:solidFill>
                <a:latin typeface="Arial"/>
                <a:ea typeface="Arial"/>
                <a:cs typeface="Arial"/>
              </a:defRPr>
            </a:pPr>
            <a:r>
              <a:rPr sz="1500" b="0">
                <a:solidFill>
                  <a:srgbClr val="17233C"/>
                </a:solidFill>
                <a:latin typeface="Arial"/>
                <a:ea typeface="Arial"/>
                <a:cs typeface="Arial"/>
              </a:rPr>
              <a:t>DB_DATABASE=postgres</a:t>
            </a:r>
          </a:p>
        </p:txBody>
      </p:sp>
      <p:sp>
        <p:nvSpPr>
          <p:cNvPr id="7" name="">
            <a:extLst xmlns:a="http://schemas.openxmlformats.org/drawingml/2006/main">
              <a:ext uri="{FF2B5EF4-FFF2-40B4-BE49-F238E27FC236}">
                <a16:creationId xmlns:a16="http://schemas.microsoft.com/office/drawing/2014/main" id="{8022D329-84F3-4B8F-B263-75639D0EEA4A}"/>
              </a:ext>
            </a:extLst>
          </p:cNvPr>
          <p:cNvSpPr>
            <a:spLocks xmlns:a="http://schemas.openxmlformats.org/drawingml/2006/main" noGrp="1"/>
          </p:cNvSpPr>
          <p:nvPr/>
        </p:nvSpPr>
        <p:spPr>
          <a:xfrm xmlns:a="http://schemas.openxmlformats.org/drawingml/2006/main">
            <a:off x="6524625" y="46958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59669"/>
                </a:solidFill>
                <a:latin typeface="Arial"/>
                <a:ea typeface="Arial"/>
                <a:cs typeface="Arial"/>
              </a:defRPr>
            </a:pPr>
            <a:r>
              <a:rPr sz="1500" b="1">
                <a:solidFill>
                  <a:srgbClr val="059669"/>
                </a:solidFill>
                <a:latin typeface="Arial"/>
                <a:ea typeface="Arial"/>
                <a:cs typeface="Arial"/>
              </a:rPr>
              <a:t>Application code</a:t>
            </a:r>
          </a:p>
        </p:txBody>
      </p:sp>
      <p:sp>
        <p:nvSpPr>
          <p:cNvPr id="8" name="">
            <a:extLst xmlns:a="http://schemas.openxmlformats.org/drawingml/2006/main">
              <a:ext uri="{FF2B5EF4-FFF2-40B4-BE49-F238E27FC236}">
                <a16:creationId xmlns:a16="http://schemas.microsoft.com/office/drawing/2014/main" id="{DDB55C97-F7D6-4283-85DE-C1F2BDAF9D0F}"/>
              </a:ext>
            </a:extLst>
          </p:cNvPr>
          <p:cNvSpPr>
            <a:spLocks xmlns:a="http://schemas.openxmlformats.org/drawingml/2006/main" noGrp="1"/>
          </p:cNvSpPr>
          <p:nvPr/>
        </p:nvSpPr>
        <p:spPr>
          <a:xfrm xmlns:a="http://schemas.openxmlformats.org/drawingml/2006/main">
            <a:off x="6524625" y="50101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33C"/>
                </a:solidFill>
                <a:latin typeface="Arial"/>
                <a:ea typeface="Arial"/>
                <a:cs typeface="Arial"/>
              </a:defRPr>
            </a:pPr>
            <a:r>
              <a:rPr sz="1650" b="1">
                <a:solidFill>
                  <a:srgbClr val="17233C"/>
                </a:solidFill>
                <a:latin typeface="Arial"/>
                <a:ea typeface="Arial"/>
                <a:cs typeface="Arial"/>
              </a:rPr>
              <a:t>Routes unchanged</a:t>
            </a:r>
          </a:p>
          <a:p xmlns:a="http://schemas.openxmlformats.org/drawingml/2006/main">
            <a:pPr algn="l">
              <a:defRPr sz="1650" b="1">
                <a:solidFill>
                  <a:srgbClr val="17233C"/>
                </a:solidFill>
                <a:latin typeface="Arial"/>
                <a:ea typeface="Arial"/>
                <a:cs typeface="Arial"/>
              </a:defRPr>
            </a:pPr>
            <a:r>
              <a:rPr sz="1650" b="1">
                <a:solidFill>
                  <a:srgbClr val="17233C"/>
                </a:solidFill>
                <a:latin typeface="Arial"/>
                <a:ea typeface="Arial"/>
                <a:cs typeface="Arial"/>
              </a:rPr>
              <a:t>Controller unchanged</a:t>
            </a:r>
          </a:p>
          <a:p xmlns:a="http://schemas.openxmlformats.org/drawingml/2006/main">
            <a:pPr algn="l">
              <a:defRPr sz="1650" b="1">
                <a:solidFill>
                  <a:srgbClr val="17233C"/>
                </a:solidFill>
                <a:latin typeface="Arial"/>
                <a:ea typeface="Arial"/>
                <a:cs typeface="Arial"/>
              </a:defRPr>
            </a:pPr>
            <a:r>
              <a:rPr sz="1650" b="1">
                <a:solidFill>
                  <a:srgbClr val="17233C"/>
                </a:solidFill>
                <a:latin typeface="Arial"/>
                <a:ea typeface="Arial"/>
                <a:cs typeface="Arial"/>
              </a:rPr>
              <a:t>Eloquent model unchanged</a:t>
            </a:r>
          </a:p>
        </p:txBody>
      </p:sp>
    </p:spTree>
    <p:extLst>
      <p:ext uri="{BB962C8B-B14F-4D97-AF65-F5344CB8AC3E}">
        <p14:creationId xmlns:p14="http://schemas.microsoft.com/office/powerpoint/2010/main" val="568110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A5FF49-A0E1-4350-8EEB-7D13B0428840}"/>
              </a:ext>
            </a:extLst>
          </p:cNvPr>
          <p:cNvSpPr>
            <a:spLocks xmlns:a="http://schemas.openxmlformats.org/drawingml/2006/main" noGrp="1"/>
          </p:cNvSpPr>
          <p:nvPr/>
        </p:nvSpPr>
        <p:spPr>
          <a:xfrm xmlns:a="http://schemas.openxmlformats.org/drawingml/2006/main">
            <a:off x="628650" y="36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33C"/>
                </a:solidFill>
                <a:latin typeface="Arial"/>
                <a:ea typeface="Arial"/>
                <a:cs typeface="Arial"/>
              </a:defRPr>
            </a:pPr>
            <a:r>
              <a:rPr sz="2550" b="1">
                <a:solidFill>
                  <a:srgbClr val="17233C"/>
                </a:solidFill>
                <a:latin typeface="Arial"/>
                <a:ea typeface="Arial"/>
                <a:cs typeface="Arial"/>
              </a:rPr>
              <a:t>Same API contract after migration</a:t>
            </a:r>
          </a:p>
        </p:txBody>
      </p:sp>
      <p:sp>
        <p:nvSpPr>
          <p:cNvPr id="2" name="">
            <a:extLst xmlns:a="http://schemas.openxmlformats.org/drawingml/2006/main">
              <a:ext uri="{FF2B5EF4-FFF2-40B4-BE49-F238E27FC236}">
                <a16:creationId xmlns:a16="http://schemas.microsoft.com/office/drawing/2014/main" id="{192E27A9-B907-4A5D-A101-32D773384D78}"/>
              </a:ext>
            </a:extLst>
          </p:cNvPr>
          <p:cNvSpPr>
            <a:spLocks xmlns:a="http://schemas.openxmlformats.org/drawingml/2006/main" noGrp="1"/>
          </p:cNvSpPr>
          <p:nvPr/>
        </p:nvSpPr>
        <p:spPr>
          <a:xfrm xmlns:a="http://schemas.openxmlformats.org/drawingml/2006/main">
            <a:off x="11049000" y="4381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2463EB"/>
                </a:solidFill>
                <a:latin typeface="Arial"/>
                <a:ea typeface="Arial"/>
                <a:cs typeface="Arial"/>
              </a:defRPr>
            </a:pPr>
            <a:r>
              <a:rPr sz="1350" b="1">
                <a:solidFill>
                  <a:srgbClr val="2463EB"/>
                </a:solidFill>
                <a:latin typeface="Arial"/>
                <a:ea typeface="Arial"/>
                <a:cs typeface="Arial"/>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3d8b07c5004552"/>
          <a:stretch xmlns:a="http://schemas.openxmlformats.org/drawingml/2006/main"/>
        </p:blipFill>
        <p:spPr>
          <a:xfrm xmlns:a="http://schemas.openxmlformats.org/drawingml/2006/main">
            <a:off x="609600" y="1346895"/>
            <a:ext cx="5286375" cy="2973586"/>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729e1d99e5413f"/>
          <a:stretch xmlns:a="http://schemas.openxmlformats.org/drawingml/2006/main"/>
        </p:blipFill>
        <p:spPr>
          <a:xfrm xmlns:a="http://schemas.openxmlformats.org/drawingml/2006/main">
            <a:off x="6296025" y="1346895"/>
            <a:ext cx="5286375" cy="297358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6E0F535-FCEE-4F5E-BB0F-9DFE18F33A3E}"/>
              </a:ext>
            </a:extLst>
          </p:cNvPr>
          <p:cNvSpPr>
            <a:spLocks xmlns:a="http://schemas.openxmlformats.org/drawingml/2006/main" noGrp="1"/>
          </p:cNvSpPr>
          <p:nvPr/>
        </p:nvSpPr>
        <p:spPr>
          <a:xfrm xmlns:a="http://schemas.openxmlformats.org/drawingml/2006/main">
            <a:off x="628650" y="46863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l">
              <a:defRPr sz="2025" b="1">
                <a:solidFill>
                  <a:srgbClr val="0891B2"/>
                </a:solidFill>
                <a:latin typeface="Arial"/>
                <a:ea typeface="Arial"/>
                <a:cs typeface="Arial"/>
              </a:defRPr>
            </a:pPr>
            <a:r>
              <a:rPr sz="2025" b="1">
                <a:solidFill>
                  <a:srgbClr val="0891B2"/>
                </a:solidFill>
                <a:latin typeface="Arial"/>
                <a:ea typeface="Arial"/>
                <a:cs typeface="Arial"/>
              </a:rPr>
              <a:t>GET 200</a:t>
            </a:r>
          </a:p>
        </p:txBody>
      </p:sp>
      <p:sp>
        <p:nvSpPr>
          <p:cNvPr id="6" name="">
            <a:extLst xmlns:a="http://schemas.openxmlformats.org/drawingml/2006/main">
              <a:ext uri="{FF2B5EF4-FFF2-40B4-BE49-F238E27FC236}">
                <a16:creationId xmlns:a16="http://schemas.microsoft.com/office/drawing/2014/main" id="{164D656B-D21D-499B-AEE3-DCDC99BB96B8}"/>
              </a:ext>
            </a:extLst>
          </p:cNvPr>
          <p:cNvSpPr>
            <a:spLocks xmlns:a="http://schemas.openxmlformats.org/drawingml/2006/main" noGrp="1"/>
          </p:cNvSpPr>
          <p:nvPr/>
        </p:nvSpPr>
        <p:spPr>
          <a:xfrm xmlns:a="http://schemas.openxmlformats.org/drawingml/2006/main">
            <a:off x="6315075" y="46863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l">
              <a:defRPr sz="2025" b="1">
                <a:solidFill>
                  <a:srgbClr val="EA580C"/>
                </a:solidFill>
                <a:latin typeface="Arial"/>
                <a:ea typeface="Arial"/>
                <a:cs typeface="Arial"/>
              </a:defRPr>
            </a:pPr>
            <a:r>
              <a:rPr sz="2025" b="1">
                <a:solidFill>
                  <a:srgbClr val="EA580C"/>
                </a:solidFill>
                <a:latin typeface="Arial"/>
                <a:ea typeface="Arial"/>
                <a:cs typeface="Arial"/>
              </a:rPr>
              <a:t>POST 201</a:t>
            </a:r>
          </a:p>
        </p:txBody>
      </p:sp>
      <p:sp>
        <p:nvSpPr>
          <p:cNvPr id="7" name="">
            <a:extLst xmlns:a="http://schemas.openxmlformats.org/drawingml/2006/main">
              <a:ext uri="{FF2B5EF4-FFF2-40B4-BE49-F238E27FC236}">
                <a16:creationId xmlns:a16="http://schemas.microsoft.com/office/drawing/2014/main" id="{5A15ABBB-D1DD-436A-ACE0-78274B5CF27B}"/>
              </a:ext>
            </a:extLst>
          </p:cNvPr>
          <p:cNvSpPr>
            <a:spLocks xmlns:a="http://schemas.openxmlformats.org/drawingml/2006/main" noGrp="1"/>
          </p:cNvSpPr>
          <p:nvPr/>
        </p:nvSpPr>
        <p:spPr>
          <a:xfrm xmlns:a="http://schemas.openxmlformats.org/drawingml/2006/main">
            <a:off x="628650" y="525780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77"/>
          </a:bodyPr>
          <a:lstStyle xmlns:a="http://schemas.openxmlformats.org/drawingml/2006/main"/>
          <a:p xmlns:a="http://schemas.openxmlformats.org/drawingml/2006/main">
            <a:pPr algn="l">
              <a:defRPr sz="1800" b="1">
                <a:solidFill>
                  <a:srgbClr val="17233C"/>
                </a:solidFill>
                <a:latin typeface="Arial"/>
                <a:ea typeface="Arial"/>
                <a:cs typeface="Arial"/>
              </a:defRPr>
            </a:pPr>
            <a:r>
              <a:rPr sz="1800" b="1">
                <a:solidFill>
                  <a:srgbClr val="17233C"/>
                </a:solidFill>
                <a:latin typeface="Arial"/>
                <a:ea typeface="Arial"/>
                <a:cs typeface="Arial"/>
              </a:rPr>
              <a:t>The endpoint paths, request body, validation rules, and JSON responses worked with both databases.</a:t>
            </a:r>
          </a:p>
        </p:txBody>
      </p:sp>
      <p:sp>
        <p:nvSpPr>
          <p:cNvPr id="8" name="">
            <a:extLst xmlns:a="http://schemas.openxmlformats.org/drawingml/2006/main">
              <a:ext uri="{FF2B5EF4-FFF2-40B4-BE49-F238E27FC236}">
                <a16:creationId xmlns:a16="http://schemas.microsoft.com/office/drawing/2014/main" id="{F13B676A-274A-401F-837B-0D06A86F05C4}"/>
              </a:ext>
            </a:extLst>
          </p:cNvPr>
          <p:cNvSpPr>
            <a:spLocks xmlns:a="http://schemas.openxmlformats.org/drawingml/2006/main" noGrp="1"/>
          </p:cNvSpPr>
          <p:nvPr/>
        </p:nvSpPr>
        <p:spPr>
          <a:xfrm xmlns:a="http://schemas.openxmlformats.org/drawingml/2006/main">
            <a:off x="628650" y="5981700"/>
            <a:ext cx="1090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556176"/>
                </a:solidFill>
                <a:latin typeface="Arial"/>
                <a:ea typeface="Arial"/>
                <a:cs typeface="Arial"/>
              </a:defRPr>
            </a:pPr>
            <a:r>
              <a:rPr sz="1500" b="0">
                <a:solidFill>
                  <a:srgbClr val="556176"/>
                </a:solidFill>
                <a:latin typeface="Arial"/>
                <a:ea typeface="Arial"/>
                <a:cs typeface="Arial"/>
              </a:rPr>
              <a:t>Result: Laravel application logic stayed separate from storage configuration.</a:t>
            </a:r>
          </a:p>
        </p:txBody>
      </p:sp>
    </p:spTree>
    <p:extLst>
      <p:ext uri="{BB962C8B-B14F-4D97-AF65-F5344CB8AC3E}">
        <p14:creationId xmlns:p14="http://schemas.microsoft.com/office/powerpoint/2010/main" val="40246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2026-09-17T08:19:53.8310000Z</dcterms:created>
  <dcterms:modified xsi:type="dcterms:W3CDTF">2026-09-17T08:19:53.8310000Z</dcterms:modified>
</coreProperties>
</file>